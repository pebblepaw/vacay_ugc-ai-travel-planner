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8229600"/>
          </a:xfrm>
          <a:prstGeom prst="rect">
            <a:avLst/>
          </a:prstGeom>
          <a:solidFill>
            <a:srgbClr val="EF5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338560" y="4937760"/>
            <a:ext cx="4023360" cy="4023360"/>
          </a:xfrm>
          <a:prstGeom prst="ellipse">
            <a:avLst/>
          </a:prstGeom>
          <a:solidFill>
            <a:srgbClr val="EEE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201400" y="502920"/>
            <a:ext cx="2560320" cy="475488"/>
          </a:xfrm>
          <a:prstGeom prst="roundRect">
            <a:avLst/>
          </a:prstGeom>
          <a:solidFill>
            <a:srgbClr val="FFFCF4"/>
          </a:solidFill>
          <a:ln>
            <a:solidFill>
              <a:srgbClr val="E1D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A5782"/>
                </a:solidFill>
              </a:rPr>
              <a:t>01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85800"/>
            <a:ext cx="9875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28193A"/>
                </a:solidFill>
                <a:latin typeface="Aptos Display"/>
              </a:rPr>
              <a:t>VacayClaw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572768"/>
            <a:ext cx="9875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6A5782"/>
                </a:solidFill>
                <a:latin typeface="Aptos Display"/>
              </a:rPr>
              <a:t>Telegram-first travel planning from short-form videos.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514600"/>
            <a:ext cx="11521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>
                <a:solidFill>
                  <a:srgbClr val="28193A"/>
                </a:solidFill>
                <a:latin typeface="Aptos"/>
              </a:defRPr>
            </a:pPr>
            <a:r>
              <a:t>Import travel videos into a shared trip.</a:t>
            </a:r>
          </a:p>
          <a:p>
            <a:pPr>
              <a:spcAft>
                <a:spcPts val="1200"/>
              </a:spcAft>
              <a:defRPr sz="2300">
                <a:solidFill>
                  <a:srgbClr val="28193A"/>
                </a:solidFill>
                <a:latin typeface="Aptos"/>
              </a:defRPr>
            </a:pPr>
            <a:r>
              <a:t>Edit the same trip from Telegram or the web.</a:t>
            </a:r>
          </a:p>
          <a:p>
            <a:pPr>
              <a:spcAft>
                <a:spcPts val="1200"/>
              </a:spcAft>
              <a:defRPr sz="2300">
                <a:solidFill>
                  <a:srgbClr val="28193A"/>
                </a:solidFill>
                <a:latin typeface="Aptos"/>
              </a:defRPr>
            </a:pPr>
            <a:r>
              <a:t>Search flights and stop before payment.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754380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6A5782"/>
                </a:solidFill>
                <a:latin typeface="Aptos Display"/>
              </a:rPr>
              <a:t>VacayClaw · CS5260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8229600"/>
          </a:xfrm>
          <a:prstGeom prst="rect">
            <a:avLst/>
          </a:prstGeom>
          <a:solidFill>
            <a:srgbClr val="1CA7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338560" y="4937760"/>
            <a:ext cx="4023360" cy="4023360"/>
          </a:xfrm>
          <a:prstGeom prst="ellipse">
            <a:avLst/>
          </a:prstGeom>
          <a:solidFill>
            <a:srgbClr val="EEE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201400" y="502920"/>
            <a:ext cx="2560320" cy="475488"/>
          </a:xfrm>
          <a:prstGeom prst="roundRect">
            <a:avLst/>
          </a:prstGeom>
          <a:solidFill>
            <a:srgbClr val="FFFCF4"/>
          </a:solidFill>
          <a:ln>
            <a:solidFill>
              <a:srgbClr val="E1D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A5782"/>
                </a:solidFill>
              </a:rPr>
              <a:t>02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85800"/>
            <a:ext cx="9875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28193A"/>
                </a:solidFill>
                <a:latin typeface="Aptos Display"/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572768"/>
            <a:ext cx="9875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6A5782"/>
                </a:solidFill>
                <a:latin typeface="Aptos Display"/>
              </a:rPr>
              <a:t>Travel planning starts in social media, but the plan gets lost.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514600"/>
            <a:ext cx="11521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>
                <a:solidFill>
                  <a:srgbClr val="28193A"/>
                </a:solidFill>
                <a:latin typeface="Aptos"/>
              </a:defRPr>
            </a:pPr>
            <a:r>
              <a:t>Friends save TikToks, YouTube Shorts, Instagram posts, Douyin clips, and Rednote links.</a:t>
            </a:r>
          </a:p>
          <a:p>
            <a:pPr>
              <a:spcAft>
                <a:spcPts val="1200"/>
              </a:spcAft>
              <a:defRPr sz="2300">
                <a:solidFill>
                  <a:srgbClr val="28193A"/>
                </a:solidFill>
                <a:latin typeface="Aptos"/>
              </a:defRPr>
            </a:pPr>
            <a:r>
              <a:t>Useful place data is trapped inside media.</a:t>
            </a:r>
          </a:p>
          <a:p>
            <a:pPr>
              <a:spcAft>
                <a:spcPts val="1200"/>
              </a:spcAft>
              <a:defRPr sz="2300">
                <a:solidFill>
                  <a:srgbClr val="28193A"/>
                </a:solidFill>
                <a:latin typeface="Aptos"/>
              </a:defRPr>
            </a:pPr>
            <a:r>
              <a:t>Group chats contain discussion, not structured trip state.</a:t>
            </a:r>
          </a:p>
          <a:p>
            <a:pPr>
              <a:spcAft>
                <a:spcPts val="1200"/>
              </a:spcAft>
              <a:defRPr sz="2300">
                <a:solidFill>
                  <a:srgbClr val="28193A"/>
                </a:solidFill>
                <a:latin typeface="Aptos"/>
              </a:defRPr>
            </a:pPr>
            <a:r>
              <a:t>Booking sits outside the planning loop.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754380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6A5782"/>
                </a:solidFill>
                <a:latin typeface="Aptos Display"/>
              </a:rPr>
              <a:t>VacayClaw · CS5260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8229600"/>
          </a:xfrm>
          <a:prstGeom prst="rect">
            <a:avLst/>
          </a:prstGeom>
          <a:solidFill>
            <a:srgbClr val="EF5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338560" y="4937760"/>
            <a:ext cx="4023360" cy="4023360"/>
          </a:xfrm>
          <a:prstGeom prst="ellipse">
            <a:avLst/>
          </a:prstGeom>
          <a:solidFill>
            <a:srgbClr val="EEE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201400" y="502920"/>
            <a:ext cx="2560320" cy="475488"/>
          </a:xfrm>
          <a:prstGeom prst="roundRect">
            <a:avLst/>
          </a:prstGeom>
          <a:solidFill>
            <a:srgbClr val="FFFCF4"/>
          </a:solidFill>
          <a:ln>
            <a:solidFill>
              <a:srgbClr val="E1D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A5782"/>
                </a:solidFill>
              </a:rPr>
              <a:t>03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85800"/>
            <a:ext cx="9875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28193A"/>
                </a:solidFill>
                <a:latin typeface="Aptos Display"/>
              </a:rPr>
              <a:t>Final Product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572768"/>
            <a:ext cx="9875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6A5782"/>
                </a:solidFill>
                <a:latin typeface="Aptos Display"/>
              </a:rPr>
              <a:t>VacayClaw is a shared agent runtime for trip planning.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514600"/>
            <a:ext cx="11521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>
                <a:solidFill>
                  <a:srgbClr val="28193A"/>
                </a:solidFill>
                <a:latin typeface="Aptos"/>
              </a:defRPr>
            </a:pPr>
            <a:r>
              <a:t>One Telegram group creates one workspace.</a:t>
            </a:r>
          </a:p>
          <a:p>
            <a:pPr>
              <a:spcAft>
                <a:spcPts val="1200"/>
              </a:spcAft>
              <a:defRPr sz="2300">
                <a:solidFill>
                  <a:srgbClr val="28193A"/>
                </a:solidFill>
                <a:latin typeface="Aptos"/>
              </a:defRPr>
            </a:pPr>
            <a:r>
              <a:t>One workspace owns one Supabase trip.</a:t>
            </a:r>
          </a:p>
          <a:p>
            <a:pPr>
              <a:spcAft>
                <a:spcPts val="1200"/>
              </a:spcAft>
              <a:defRPr sz="2300">
                <a:solidFill>
                  <a:srgbClr val="28193A"/>
                </a:solidFill>
                <a:latin typeface="Aptos"/>
              </a:defRPr>
            </a:pPr>
            <a:r>
              <a:t>The website opens the same workspace.</a:t>
            </a:r>
          </a:p>
          <a:p>
            <a:pPr>
              <a:spcAft>
                <a:spcPts val="1200"/>
              </a:spcAft>
              <a:defRPr sz="2300">
                <a:solidFill>
                  <a:srgbClr val="28193A"/>
                </a:solidFill>
                <a:latin typeface="Aptos"/>
              </a:defRPr>
            </a:pPr>
            <a:r>
              <a:t>The agent imports media, edits the itinerary, suggests meals, and searches flights.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754380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6A5782"/>
                </a:solidFill>
                <a:latin typeface="Aptos Display"/>
              </a:rPr>
              <a:t>VacayClaw · CS5260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8229600"/>
          </a:xfrm>
          <a:prstGeom prst="rect">
            <a:avLst/>
          </a:prstGeom>
          <a:solidFill>
            <a:srgbClr val="1CA7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338560" y="4937760"/>
            <a:ext cx="4023360" cy="4023360"/>
          </a:xfrm>
          <a:prstGeom prst="ellipse">
            <a:avLst/>
          </a:prstGeom>
          <a:solidFill>
            <a:srgbClr val="EEE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201400" y="502920"/>
            <a:ext cx="2560320" cy="475488"/>
          </a:xfrm>
          <a:prstGeom prst="roundRect">
            <a:avLst/>
          </a:prstGeom>
          <a:solidFill>
            <a:srgbClr val="FFFCF4"/>
          </a:solidFill>
          <a:ln>
            <a:solidFill>
              <a:srgbClr val="E1D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A5782"/>
                </a:solidFill>
              </a:rPr>
              <a:t>04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85800"/>
            <a:ext cx="9875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28193A"/>
                </a:solidFill>
                <a:latin typeface="Aptos Display"/>
              </a:rPr>
              <a:t>Demo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572768"/>
            <a:ext cx="9875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6A5782"/>
                </a:solidFill>
                <a:latin typeface="Aptos Display"/>
              </a:rPr>
              <a:t>The final demo follows five user steps.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514600"/>
            <a:ext cx="11521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>
                <a:solidFill>
                  <a:srgbClr val="28193A"/>
                </a:solidFill>
                <a:latin typeface="Aptos"/>
              </a:defRPr>
            </a:pPr>
            <a:r>
              <a:t>Step 1: Import Sydney travel videos.</a:t>
            </a:r>
          </a:p>
          <a:p>
            <a:pPr>
              <a:spcAft>
                <a:spcPts val="1200"/>
              </a:spcAft>
              <a:defRPr sz="2300">
                <a:solidFill>
                  <a:srgbClr val="28193A"/>
                </a:solidFill>
                <a:latin typeface="Aptos"/>
              </a:defRPr>
            </a:pPr>
            <a:r>
              <a:t>Step 2: Shrink the trip to two days.</a:t>
            </a:r>
          </a:p>
          <a:p>
            <a:pPr>
              <a:spcAft>
                <a:spcPts val="1200"/>
              </a:spcAft>
              <a:defRPr sz="2300">
                <a:solidFill>
                  <a:srgbClr val="28193A"/>
                </a:solidFill>
                <a:latin typeface="Aptos"/>
              </a:defRPr>
            </a:pPr>
            <a:r>
              <a:t>Step 3: Ask for meal options, then choose one.</a:t>
            </a:r>
          </a:p>
          <a:p>
            <a:pPr>
              <a:spcAft>
                <a:spcPts val="1200"/>
              </a:spcAft>
              <a:defRPr sz="2300">
                <a:solidFill>
                  <a:srgbClr val="28193A"/>
                </a:solidFill>
                <a:latin typeface="Aptos"/>
              </a:defRPr>
            </a:pPr>
            <a:r>
              <a:t>Step 4: Insert an activity such as a cinema stop.</a:t>
            </a:r>
          </a:p>
          <a:p>
            <a:pPr>
              <a:spcAft>
                <a:spcPts val="1200"/>
              </a:spcAft>
              <a:defRPr sz="2300">
                <a:solidFill>
                  <a:srgbClr val="28193A"/>
                </a:solidFill>
                <a:latin typeface="Aptos"/>
              </a:defRPr>
            </a:pPr>
            <a:r>
              <a:t>Step 5: Ask for flight options, choose one, and receive the handoff link.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754380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6A5782"/>
                </a:solidFill>
                <a:latin typeface="Aptos Display"/>
              </a:rPr>
              <a:t>VacayClaw · CS5260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8229600"/>
          </a:xfrm>
          <a:prstGeom prst="rect">
            <a:avLst/>
          </a:prstGeom>
          <a:solidFill>
            <a:srgbClr val="EF5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338560" y="4937760"/>
            <a:ext cx="4023360" cy="4023360"/>
          </a:xfrm>
          <a:prstGeom prst="ellipse">
            <a:avLst/>
          </a:prstGeom>
          <a:solidFill>
            <a:srgbClr val="EEE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201400" y="502920"/>
            <a:ext cx="2560320" cy="475488"/>
          </a:xfrm>
          <a:prstGeom prst="roundRect">
            <a:avLst/>
          </a:prstGeom>
          <a:solidFill>
            <a:srgbClr val="FFFCF4"/>
          </a:solidFill>
          <a:ln>
            <a:solidFill>
              <a:srgbClr val="E1D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A5782"/>
                </a:solidFill>
              </a:rPr>
              <a:t>05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85800"/>
            <a:ext cx="9875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28193A"/>
                </a:solidFill>
                <a:latin typeface="Aptos Display"/>
              </a:rPr>
              <a:t>Shared Workspace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572768"/>
            <a:ext cx="9875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6A5782"/>
                </a:solidFill>
                <a:latin typeface="Aptos Display"/>
              </a:rPr>
              <a:t>The workspace is the main product object.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514600"/>
            <a:ext cx="11521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>
                <a:solidFill>
                  <a:srgbClr val="28193A"/>
                </a:solidFill>
                <a:latin typeface="Aptos"/>
              </a:defRPr>
            </a:pPr>
            <a:r>
              <a:t>Workspace ID: telegram:{chat_id}:main.</a:t>
            </a:r>
          </a:p>
          <a:p>
            <a:pPr>
              <a:spcAft>
                <a:spcPts val="1200"/>
              </a:spcAft>
              <a:defRPr sz="2300">
                <a:solidFill>
                  <a:srgbClr val="28193A"/>
                </a:solidFill>
                <a:latin typeface="Aptos"/>
              </a:defRPr>
            </a:pPr>
            <a:r>
              <a:t>Telegram and web messages write to the same event log.</a:t>
            </a:r>
          </a:p>
          <a:p>
            <a:pPr>
              <a:spcAft>
                <a:spcPts val="1200"/>
              </a:spcAft>
              <a:defRPr sz="2300">
                <a:solidFill>
                  <a:srgbClr val="28193A"/>
                </a:solidFill>
                <a:latin typeface="Aptos"/>
              </a:defRPr>
            </a:pPr>
            <a:r>
              <a:t>Supabase stores trip, chat, runtime state, memory, and media.</a:t>
            </a:r>
          </a:p>
          <a:p>
            <a:pPr>
              <a:spcAft>
                <a:spcPts val="1200"/>
              </a:spcAft>
              <a:defRPr sz="2300">
                <a:solidFill>
                  <a:srgbClr val="28193A"/>
                </a:solidFill>
                <a:latin typeface="Aptos"/>
              </a:defRPr>
            </a:pPr>
            <a:r>
              <a:t>The frontend reads a signed workspace snapshot.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754380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6A5782"/>
                </a:solidFill>
                <a:latin typeface="Aptos Display"/>
              </a:rPr>
              <a:t>VacayClaw · CS5260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8229600"/>
          </a:xfrm>
          <a:prstGeom prst="rect">
            <a:avLst/>
          </a:prstGeom>
          <a:solidFill>
            <a:srgbClr val="1CA7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338560" y="4937760"/>
            <a:ext cx="4023360" cy="4023360"/>
          </a:xfrm>
          <a:prstGeom prst="ellipse">
            <a:avLst/>
          </a:prstGeom>
          <a:solidFill>
            <a:srgbClr val="EEE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201400" y="502920"/>
            <a:ext cx="2560320" cy="475488"/>
          </a:xfrm>
          <a:prstGeom prst="roundRect">
            <a:avLst/>
          </a:prstGeom>
          <a:solidFill>
            <a:srgbClr val="FFFCF4"/>
          </a:solidFill>
          <a:ln>
            <a:solidFill>
              <a:srgbClr val="E1D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A5782"/>
                </a:solidFill>
              </a:rPr>
              <a:t>06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85800"/>
            <a:ext cx="9875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28193A"/>
                </a:solidFill>
                <a:latin typeface="Aptos Display"/>
              </a:rPr>
              <a:t>Media Import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572768"/>
            <a:ext cx="9875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6A5782"/>
                </a:solidFill>
                <a:latin typeface="Aptos Display"/>
              </a:rPr>
              <a:t>VacayClaw turns links into itinerary data.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514600"/>
            <a:ext cx="11521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>
                <a:solidFill>
                  <a:srgbClr val="28193A"/>
                </a:solidFill>
                <a:latin typeface="Aptos"/>
              </a:defRPr>
            </a:pPr>
            <a:r>
              <a:t>Detects TikTok, YouTube, Instagram, Douyin, and Rednote URLs.</a:t>
            </a:r>
          </a:p>
          <a:p>
            <a:pPr>
              <a:spcAft>
                <a:spcPts val="1200"/>
              </a:spcAft>
              <a:defRPr sz="2300">
                <a:solidFill>
                  <a:srgbClr val="28193A"/>
                </a:solidFill>
                <a:latin typeface="Aptos"/>
              </a:defRPr>
            </a:pPr>
            <a:r>
              <a:t>Downloads or resolves media where the platform allows it.</a:t>
            </a:r>
          </a:p>
          <a:p>
            <a:pPr>
              <a:spcAft>
                <a:spcPts val="1200"/>
              </a:spcAft>
              <a:defRPr sz="2300">
                <a:solidFill>
                  <a:srgbClr val="28193A"/>
                </a:solidFill>
                <a:latin typeface="Aptos"/>
              </a:defRPr>
            </a:pPr>
            <a:r>
              <a:t>Uses Gemini to extract places and descriptions.</a:t>
            </a:r>
          </a:p>
          <a:p>
            <a:pPr>
              <a:spcAft>
                <a:spcPts val="1200"/>
              </a:spcAft>
              <a:defRPr sz="2300">
                <a:solidFill>
                  <a:srgbClr val="28193A"/>
                </a:solidFill>
                <a:latin typeface="Aptos"/>
              </a:defRPr>
            </a:pPr>
            <a:r>
              <a:t>Uses Tavily, Mapbox, and OpenStreetMap for place resolution.</a:t>
            </a:r>
          </a:p>
          <a:p>
            <a:pPr>
              <a:spcAft>
                <a:spcPts val="1200"/>
              </a:spcAft>
              <a:defRPr sz="2300">
                <a:solidFill>
                  <a:srgbClr val="28193A"/>
                </a:solidFill>
                <a:latin typeface="Aptos"/>
              </a:defRPr>
            </a:pPr>
            <a:r>
              <a:t>Links each media item to the relevant place card.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754380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6A5782"/>
                </a:solidFill>
                <a:latin typeface="Aptos Display"/>
              </a:rPr>
              <a:t>VacayClaw · CS5260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8229600"/>
          </a:xfrm>
          <a:prstGeom prst="rect">
            <a:avLst/>
          </a:prstGeom>
          <a:solidFill>
            <a:srgbClr val="EF5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338560" y="4937760"/>
            <a:ext cx="4023360" cy="4023360"/>
          </a:xfrm>
          <a:prstGeom prst="ellipse">
            <a:avLst/>
          </a:prstGeom>
          <a:solidFill>
            <a:srgbClr val="EEE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201400" y="502920"/>
            <a:ext cx="2560320" cy="475488"/>
          </a:xfrm>
          <a:prstGeom prst="roundRect">
            <a:avLst/>
          </a:prstGeom>
          <a:solidFill>
            <a:srgbClr val="FFFCF4"/>
          </a:solidFill>
          <a:ln>
            <a:solidFill>
              <a:srgbClr val="E1D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A5782"/>
                </a:solidFill>
              </a:rPr>
              <a:t>07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85800"/>
            <a:ext cx="9875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28193A"/>
                </a:solidFill>
                <a:latin typeface="Aptos Display"/>
              </a:rPr>
              <a:t>Agent Behavior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572768"/>
            <a:ext cx="9875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6A5782"/>
                </a:solidFill>
                <a:latin typeface="Aptos Display"/>
              </a:rPr>
              <a:t>The agent waits for user choice when choice matters.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514600"/>
            <a:ext cx="11521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>
                <a:solidFill>
                  <a:srgbClr val="28193A"/>
                </a:solidFill>
                <a:latin typeface="Aptos"/>
              </a:defRPr>
            </a:pPr>
            <a:r>
              <a:t>Meal requests return options first.</a:t>
            </a:r>
          </a:p>
          <a:p>
            <a:pPr>
              <a:spcAft>
                <a:spcPts val="1200"/>
              </a:spcAft>
              <a:defRPr sz="2300">
                <a:solidFill>
                  <a:srgbClr val="28193A"/>
                </a:solidFill>
                <a:latin typeface="Aptos"/>
              </a:defRPr>
            </a:pPr>
            <a:r>
              <a:t>The user selects by number or name.</a:t>
            </a:r>
          </a:p>
          <a:p>
            <a:pPr>
              <a:spcAft>
                <a:spcPts val="1200"/>
              </a:spcAft>
              <a:defRPr sz="2300">
                <a:solidFill>
                  <a:srgbClr val="28193A"/>
                </a:solidFill>
                <a:latin typeface="Aptos"/>
              </a:defRPr>
            </a:pPr>
            <a:r>
              <a:t>Flight requests return real options first.</a:t>
            </a:r>
          </a:p>
          <a:p>
            <a:pPr>
              <a:spcAft>
                <a:spcPts val="1200"/>
              </a:spcAft>
              <a:defRPr sz="2300">
                <a:solidFill>
                  <a:srgbClr val="28193A"/>
                </a:solidFill>
                <a:latin typeface="Aptos"/>
              </a:defRPr>
            </a:pPr>
            <a:r>
              <a:t>The user selects one option before browser handoff.</a:t>
            </a:r>
          </a:p>
          <a:p>
            <a:pPr>
              <a:spcAft>
                <a:spcPts val="1200"/>
              </a:spcAft>
              <a:defRPr sz="2300">
                <a:solidFill>
                  <a:srgbClr val="28193A"/>
                </a:solidFill>
                <a:latin typeface="Aptos"/>
              </a:defRPr>
            </a:pPr>
            <a:r>
              <a:t>The agent stops before payment.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754380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6A5782"/>
                </a:solidFill>
                <a:latin typeface="Aptos Display"/>
              </a:rPr>
              <a:t>VacayClaw · CS5260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8229600"/>
          </a:xfrm>
          <a:prstGeom prst="rect">
            <a:avLst/>
          </a:prstGeom>
          <a:solidFill>
            <a:srgbClr val="1CA7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338560" y="4937760"/>
            <a:ext cx="4023360" cy="4023360"/>
          </a:xfrm>
          <a:prstGeom prst="ellipse">
            <a:avLst/>
          </a:prstGeom>
          <a:solidFill>
            <a:srgbClr val="EEE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201400" y="502920"/>
            <a:ext cx="2560320" cy="475488"/>
          </a:xfrm>
          <a:prstGeom prst="roundRect">
            <a:avLst/>
          </a:prstGeom>
          <a:solidFill>
            <a:srgbClr val="FFFCF4"/>
          </a:solidFill>
          <a:ln>
            <a:solidFill>
              <a:srgbClr val="E1D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A5782"/>
                </a:solidFill>
              </a:rPr>
              <a:t>08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85800"/>
            <a:ext cx="9875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28193A"/>
                </a:solidFill>
                <a:latin typeface="Aptos Display"/>
              </a:rPr>
              <a:t>Web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572768"/>
            <a:ext cx="9875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6A5782"/>
                </a:solidFill>
                <a:latin typeface="Aptos Display"/>
              </a:rPr>
              <a:t>The web app is the visual workspace.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514600"/>
            <a:ext cx="11521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>
                <a:solidFill>
                  <a:srgbClr val="28193A"/>
                </a:solidFill>
                <a:latin typeface="Aptos"/>
              </a:defRPr>
            </a:pPr>
            <a:r>
              <a:t>Map and itinerary cards show the saved trip.</a:t>
            </a:r>
          </a:p>
          <a:p>
            <a:pPr>
              <a:spcAft>
                <a:spcPts val="1200"/>
              </a:spcAft>
              <a:defRPr sz="2300">
                <a:solidFill>
                  <a:srgbClr val="28193A"/>
                </a:solidFill>
                <a:latin typeface="Aptos"/>
              </a:defRPr>
            </a:pPr>
            <a:r>
              <a:t>Chat shows Telegram and web events.</a:t>
            </a:r>
          </a:p>
          <a:p>
            <a:pPr>
              <a:spcAft>
                <a:spcPts val="1200"/>
              </a:spcAft>
              <a:defRPr sz="2300">
                <a:solidFill>
                  <a:srgbClr val="28193A"/>
                </a:solidFill>
                <a:latin typeface="Aptos"/>
              </a:defRPr>
            </a:pPr>
            <a:r>
              <a:t>Media folders group videos by place.</a:t>
            </a:r>
          </a:p>
          <a:p>
            <a:pPr>
              <a:spcAft>
                <a:spcPts val="1200"/>
              </a:spcAft>
              <a:defRPr sz="2300">
                <a:solidFill>
                  <a:srgbClr val="28193A"/>
                </a:solidFill>
                <a:latin typeface="Aptos"/>
              </a:defRPr>
            </a:pPr>
            <a:r>
              <a:t>Clicking a media folder opens an overlay.</a:t>
            </a:r>
          </a:p>
          <a:p>
            <a:pPr>
              <a:spcAft>
                <a:spcPts val="1200"/>
              </a:spcAft>
              <a:defRPr sz="2300">
                <a:solidFill>
                  <a:srgbClr val="28193A"/>
                </a:solidFill>
                <a:latin typeface="Aptos"/>
              </a:defRPr>
            </a:pPr>
            <a:r>
              <a:t>Playable clips autoplay muted; unsupported sources show source links.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754380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6A5782"/>
                </a:solidFill>
                <a:latin typeface="Aptos Display"/>
              </a:rPr>
              <a:t>VacayClaw · CS5260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8229600"/>
          </a:xfrm>
          <a:prstGeom prst="rect">
            <a:avLst/>
          </a:prstGeom>
          <a:solidFill>
            <a:srgbClr val="EF5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338560" y="4937760"/>
            <a:ext cx="4023360" cy="4023360"/>
          </a:xfrm>
          <a:prstGeom prst="ellipse">
            <a:avLst/>
          </a:prstGeom>
          <a:solidFill>
            <a:srgbClr val="EEE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201400" y="502920"/>
            <a:ext cx="2560320" cy="475488"/>
          </a:xfrm>
          <a:prstGeom prst="roundRect">
            <a:avLst/>
          </a:prstGeom>
          <a:solidFill>
            <a:srgbClr val="FFFCF4"/>
          </a:solidFill>
          <a:ln>
            <a:solidFill>
              <a:srgbClr val="E1D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A5782"/>
                </a:solidFill>
              </a:rPr>
              <a:t>09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85800"/>
            <a:ext cx="9875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28193A"/>
                </a:solidFill>
                <a:latin typeface="Aptos Display"/>
              </a:rPr>
              <a:t>Booking Handoff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572768"/>
            <a:ext cx="9875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6A5782"/>
                </a:solidFill>
                <a:latin typeface="Aptos Display"/>
              </a:rPr>
              <a:t>Flight booking uses a browser agent.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514600"/>
            <a:ext cx="11521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>
                <a:solidFill>
                  <a:srgbClr val="28193A"/>
                </a:solidFill>
                <a:latin typeface="Aptos"/>
              </a:defRPr>
            </a:pPr>
            <a:r>
              <a:t>The user asks for flights.</a:t>
            </a:r>
          </a:p>
          <a:p>
            <a:pPr>
              <a:spcAft>
                <a:spcPts val="1200"/>
              </a:spcAft>
              <a:defRPr sz="2300">
                <a:solidFill>
                  <a:srgbClr val="28193A"/>
                </a:solidFill>
                <a:latin typeface="Aptos"/>
              </a:defRPr>
            </a:pPr>
            <a:r>
              <a:t>The agent searches Trip.com.</a:t>
            </a:r>
          </a:p>
          <a:p>
            <a:pPr>
              <a:spcAft>
                <a:spcPts val="1200"/>
              </a:spcAft>
              <a:defRPr sz="2300">
                <a:solidFill>
                  <a:srgbClr val="28193A"/>
                </a:solidFill>
                <a:latin typeface="Aptos"/>
              </a:defRPr>
            </a:pPr>
            <a:r>
              <a:t>The bot returns options with timing, airline, price, and dates.</a:t>
            </a:r>
          </a:p>
          <a:p>
            <a:pPr>
              <a:spcAft>
                <a:spcPts val="1200"/>
              </a:spcAft>
              <a:defRPr sz="2300">
                <a:solidFill>
                  <a:srgbClr val="28193A"/>
                </a:solidFill>
                <a:latin typeface="Aptos"/>
              </a:defRPr>
            </a:pPr>
            <a:r>
              <a:t>The user chooses an option.</a:t>
            </a:r>
          </a:p>
          <a:p>
            <a:pPr>
              <a:spcAft>
                <a:spcPts val="1200"/>
              </a:spcAft>
              <a:defRPr sz="2300">
                <a:solidFill>
                  <a:srgbClr val="28193A"/>
                </a:solidFill>
                <a:latin typeface="Aptos"/>
              </a:defRPr>
            </a:pPr>
            <a:r>
              <a:t>The agent opens traveler details or payment preparation and returns the current URL.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754380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6A5782"/>
                </a:solidFill>
                <a:latin typeface="Aptos Display"/>
              </a:rPr>
              <a:t>VacayClaw · CS5260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8229600"/>
          </a:xfrm>
          <a:prstGeom prst="rect">
            <a:avLst/>
          </a:prstGeom>
          <a:solidFill>
            <a:srgbClr val="1CA7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338560" y="4937760"/>
            <a:ext cx="4023360" cy="4023360"/>
          </a:xfrm>
          <a:prstGeom prst="ellipse">
            <a:avLst/>
          </a:prstGeom>
          <a:solidFill>
            <a:srgbClr val="EEE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201400" y="502920"/>
            <a:ext cx="2560320" cy="475488"/>
          </a:xfrm>
          <a:prstGeom prst="roundRect">
            <a:avLst/>
          </a:prstGeom>
          <a:solidFill>
            <a:srgbClr val="FFFCF4"/>
          </a:solidFill>
          <a:ln>
            <a:solidFill>
              <a:srgbClr val="E1D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A5782"/>
                </a:solidFill>
              </a:rPr>
              <a:t>10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85800"/>
            <a:ext cx="9875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28193A"/>
                </a:solidFill>
                <a:latin typeface="Aptos Display"/>
              </a:rPr>
              <a:t>Verification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572768"/>
            <a:ext cx="9875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6A5782"/>
                </a:solidFill>
                <a:latin typeface="Aptos Display"/>
              </a:rPr>
              <a:t>The final build focuses on the local demo path.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514600"/>
            <a:ext cx="11521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>
                <a:solidFill>
                  <a:srgbClr val="28193A"/>
                </a:solidFill>
                <a:latin typeface="Aptos"/>
              </a:defRPr>
            </a:pPr>
            <a:r>
              <a:t>Telegram group creation maps to a Supabase workspace.</a:t>
            </a:r>
          </a:p>
          <a:p>
            <a:pPr>
              <a:spcAft>
                <a:spcPts val="1200"/>
              </a:spcAft>
              <a:defRPr sz="2300">
                <a:solidFill>
                  <a:srgbClr val="28193A"/>
                </a:solidFill>
                <a:latin typeface="Aptos"/>
              </a:defRPr>
            </a:pPr>
            <a:r>
              <a:t>Web and Telegram messages sync through workspace events.</a:t>
            </a:r>
          </a:p>
          <a:p>
            <a:pPr>
              <a:spcAft>
                <a:spcPts val="1200"/>
              </a:spcAft>
              <a:defRPr sz="2300">
                <a:solidFill>
                  <a:srgbClr val="28193A"/>
                </a:solidFill>
                <a:latin typeface="Aptos"/>
              </a:defRPr>
            </a:pPr>
            <a:r>
              <a:t>Steps 1 to 5 are implemented for the demo path.</a:t>
            </a:r>
          </a:p>
          <a:p>
            <a:pPr>
              <a:spcAft>
                <a:spcPts val="1200"/>
              </a:spcAft>
              <a:defRPr sz="2300">
                <a:solidFill>
                  <a:srgbClr val="28193A"/>
                </a:solidFill>
                <a:latin typeface="Aptos"/>
              </a:defRPr>
            </a:pPr>
            <a:r>
              <a:t>The cards page supports per-location media playback.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754380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6A5782"/>
                </a:solidFill>
                <a:latin typeface="Aptos Display"/>
              </a:rPr>
              <a:t>VacayClaw · CS5260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8229600"/>
          </a:xfrm>
          <a:prstGeom prst="rect">
            <a:avLst/>
          </a:prstGeom>
          <a:solidFill>
            <a:srgbClr val="EF5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338560" y="4937760"/>
            <a:ext cx="4023360" cy="4023360"/>
          </a:xfrm>
          <a:prstGeom prst="ellipse">
            <a:avLst/>
          </a:prstGeom>
          <a:solidFill>
            <a:srgbClr val="EEE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201400" y="502920"/>
            <a:ext cx="2560320" cy="475488"/>
          </a:xfrm>
          <a:prstGeom prst="roundRect">
            <a:avLst/>
          </a:prstGeom>
          <a:solidFill>
            <a:srgbClr val="FFFCF4"/>
          </a:solidFill>
          <a:ln>
            <a:solidFill>
              <a:srgbClr val="E1D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A5782"/>
                </a:solidFill>
              </a:rPr>
              <a:t>11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85800"/>
            <a:ext cx="9875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28193A"/>
                </a:solidFill>
                <a:latin typeface="Aptos Display"/>
              </a:rPr>
              <a:t>Limitations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572768"/>
            <a:ext cx="9875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6A5782"/>
                </a:solidFill>
                <a:latin typeface="Aptos Display"/>
              </a:rPr>
              <a:t>The remaining limits come from external services and timeouts.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514600"/>
            <a:ext cx="11521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>
                <a:solidFill>
                  <a:srgbClr val="28193A"/>
                </a:solidFill>
                <a:latin typeface="Aptos"/>
              </a:defRPr>
            </a:pPr>
            <a:r>
              <a:t>Douyin and Rednote can require fresh cookies.</a:t>
            </a:r>
          </a:p>
          <a:p>
            <a:pPr>
              <a:spcAft>
                <a:spcPts val="1200"/>
              </a:spcAft>
              <a:defRPr sz="2300">
                <a:solidFill>
                  <a:srgbClr val="28193A"/>
                </a:solidFill>
                <a:latin typeface="Aptos"/>
              </a:defRPr>
            </a:pPr>
            <a:r>
              <a:t>Telegram can retry long webhook calls while imports continue.</a:t>
            </a:r>
          </a:p>
          <a:p>
            <a:pPr>
              <a:spcAft>
                <a:spcPts val="1200"/>
              </a:spcAft>
              <a:defRPr sz="2300">
                <a:solidFill>
                  <a:srgbClr val="28193A"/>
                </a:solidFill>
                <a:latin typeface="Aptos"/>
              </a:defRPr>
            </a:pPr>
            <a:r>
              <a:t>Trip.com can show CAPTCHA.</a:t>
            </a:r>
          </a:p>
          <a:p>
            <a:pPr>
              <a:spcAft>
                <a:spcPts val="1200"/>
              </a:spcAft>
              <a:defRPr sz="2300">
                <a:solidFill>
                  <a:srgbClr val="28193A"/>
                </a:solidFill>
                <a:latin typeface="Aptos"/>
              </a:defRPr>
            </a:pPr>
            <a:r>
              <a:t>The demo uses local frontend and backend with Supabase as the durable store.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754380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6A5782"/>
                </a:solidFill>
                <a:latin typeface="Aptos Display"/>
              </a:rPr>
              <a:t>VacayClaw · CS5260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8229600"/>
          </a:xfrm>
          <a:prstGeom prst="rect">
            <a:avLst/>
          </a:prstGeom>
          <a:solidFill>
            <a:srgbClr val="1CA7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338560" y="4937760"/>
            <a:ext cx="4023360" cy="4023360"/>
          </a:xfrm>
          <a:prstGeom prst="ellipse">
            <a:avLst/>
          </a:prstGeom>
          <a:solidFill>
            <a:srgbClr val="EEE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201400" y="502920"/>
            <a:ext cx="2560320" cy="475488"/>
          </a:xfrm>
          <a:prstGeom prst="roundRect">
            <a:avLst/>
          </a:prstGeom>
          <a:solidFill>
            <a:srgbClr val="FFFCF4"/>
          </a:solidFill>
          <a:ln>
            <a:solidFill>
              <a:srgbClr val="E1D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A5782"/>
                </a:solidFill>
              </a:rPr>
              <a:t>12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85800"/>
            <a:ext cx="9875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28193A"/>
                </a:solidFill>
                <a:latin typeface="Aptos Display"/>
              </a:rPr>
              <a:t>Outcome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572768"/>
            <a:ext cx="9875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6A5782"/>
                </a:solidFill>
                <a:latin typeface="Aptos Display"/>
              </a:rPr>
              <a:t>VacayClaw completes the travel planning loop.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514600"/>
            <a:ext cx="11521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>
                <a:solidFill>
                  <a:srgbClr val="28193A"/>
                </a:solidFill>
                <a:latin typeface="Aptos"/>
              </a:defRPr>
            </a:pPr>
            <a:r>
              <a:t>Inspiration becomes structured itinerary data.</a:t>
            </a:r>
          </a:p>
          <a:p>
            <a:pPr>
              <a:spcAft>
                <a:spcPts val="1200"/>
              </a:spcAft>
              <a:defRPr sz="2300">
                <a:solidFill>
                  <a:srgbClr val="28193A"/>
                </a:solidFill>
                <a:latin typeface="Aptos"/>
              </a:defRPr>
            </a:pPr>
            <a:r>
              <a:t>Group chat becomes a durable workspace.</a:t>
            </a:r>
          </a:p>
          <a:p>
            <a:pPr>
              <a:spcAft>
                <a:spcPts val="1200"/>
              </a:spcAft>
              <a:defRPr sz="2300">
                <a:solidFill>
                  <a:srgbClr val="28193A"/>
                </a:solidFill>
                <a:latin typeface="Aptos"/>
              </a:defRPr>
            </a:pPr>
            <a:r>
              <a:t>The web app gives a visual review surface.</a:t>
            </a:r>
          </a:p>
          <a:p>
            <a:pPr>
              <a:spcAft>
                <a:spcPts val="1200"/>
              </a:spcAft>
              <a:defRPr sz="2300">
                <a:solidFill>
                  <a:srgbClr val="28193A"/>
                </a:solidFill>
                <a:latin typeface="Aptos"/>
              </a:defRPr>
            </a:pPr>
            <a:r>
              <a:t>The agent handles edits and flight search.</a:t>
            </a:r>
          </a:p>
          <a:p>
            <a:pPr>
              <a:spcAft>
                <a:spcPts val="1200"/>
              </a:spcAft>
              <a:defRPr sz="2300">
                <a:solidFill>
                  <a:srgbClr val="28193A"/>
                </a:solidFill>
                <a:latin typeface="Aptos"/>
              </a:defRPr>
            </a:pPr>
            <a:r>
              <a:t>The user stays in control before payment.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754380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6A5782"/>
                </a:solidFill>
                <a:latin typeface="Aptos Display"/>
              </a:rPr>
              <a:t>VacayClaw · CS5260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